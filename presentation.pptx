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629400" cy="1325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8FAFC"/>
                </a:solidFill>
                <a:latin typeface="Arial"/>
              </a:rPr>
              <a:t>Анализ изображений</a:t>
            </a:r>
            <a:br/>
            <a:r>
              <a:rPr sz="3800" b="1">
                <a:solidFill>
                  <a:srgbClr val="F8FAFC"/>
                </a:solidFill>
                <a:latin typeface="Arial"/>
              </a:rPr>
              <a:t>рукописных цифр</a:t>
            </a:r>
            <a:br/>
            <a:r>
              <a:rPr sz="3800" b="1">
                <a:solidFill>
                  <a:srgbClr val="F8FAFC"/>
                </a:solidFill>
                <a:latin typeface="Arial"/>
              </a:rPr>
              <a:t>с использованием PCA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240280"/>
            <a:ext cx="64008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38BDF8"/>
                </a:solidFill>
                <a:latin typeface="Arial"/>
              </a:rPr>
              <a:t>Проект по линейной алгебре · 1 курс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6766560" cy="685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CBD5E1"/>
                </a:solidFill>
                <a:latin typeface="Arial"/>
              </a:rPr>
              <a:t>Как собственные векторы помогают увидеть структуру</a:t>
            </a:r>
            <a:br/>
            <a:r>
              <a:rPr sz="1800" b="0">
                <a:solidFill>
                  <a:srgbClr val="CBD5E1"/>
                </a:solidFill>
                <a:latin typeface="Arial"/>
              </a:rPr>
              <a:t>в 784-мерных изображениях MNIST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640080"/>
            <a:ext cx="3977639" cy="4114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igit_v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914400"/>
            <a:ext cx="3611880" cy="1776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4983480"/>
            <a:ext cx="37947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59E0B"/>
                </a:solidFill>
                <a:latin typeface="Arial"/>
              </a:rPr>
              <a:t>Вопрос доклада: сколько координат нужно,</a:t>
            </a:r>
            <a:br/>
            <a:r>
              <a:rPr sz="1500" b="1">
                <a:solidFill>
                  <a:srgbClr val="F59E0B"/>
                </a:solidFill>
                <a:latin typeface="Arial"/>
              </a:rPr>
              <a:t>чтобы цифра оставалась узнаваемой?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08076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64748B"/>
                </a:solidFill>
                <a:latin typeface="Arial"/>
              </a:rPr>
              <a:t>ФИО, группа — замените на свои 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Линейная алгебра · PCA · MNIST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8FAFC"/>
                </a:solidFill>
                <a:latin typeface="Arial"/>
              </a:rPr>
              <a:t>Введение: цель и задачи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9875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План соответствует требованиям проекта: введение → теория → практика → выводы → литература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12080" cy="44348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7548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8BDF8"/>
                </a:solidFill>
                <a:latin typeface="Arial"/>
              </a:rPr>
              <a:t>Цель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66344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8FAFC"/>
                </a:solidFill>
                <a:latin typeface="Arial"/>
              </a:rPr>
              <a:t>Показать, как метод главных компонент уменьшает размерность изображений рукописных цифр и при этом сохраняет основную форму цифры.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4572000" cy="960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CBD5E1"/>
                </a:solidFill>
                <a:latin typeface="Arial"/>
              </a:rPr>
              <a:t>Идея простая: не все 784 пикселя одинаково важны. PCA находит новые оси — направления максимального разброса данных.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49240" cy="44348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8920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8BDF8"/>
                </a:solidFill>
                <a:latin typeface="Arial"/>
              </a:rPr>
              <a:t>Задачи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475488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описать данные MNIST и представить изображение как вектор;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поставить задачу PCA на языке матриц и подпространств;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разобрать связь PCA с собственными векторами и SVD;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реализовать анализ в Python: sklearn + fetch_openml + PCA;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оценить визуализацию, сжатие и восстановление изображений.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Линейная алгебра · PCA · MNIST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8FAFC"/>
                </a:solidFill>
                <a:latin typeface="Arial"/>
              </a:rPr>
              <a:t>Математическая постановка задачи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9875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Изображение — это точка в пространстве высокой размерности</a:t>
            </a:r>
          </a:p>
        </p:txBody>
      </p:sp>
      <p:pic>
        <p:nvPicPr>
          <p:cNvPr id="5" name="Picture 4" descr="digit_v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5120640" cy="25187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800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8BDF8"/>
                </a:solidFill>
                <a:latin typeface="Arial"/>
              </a:rPr>
              <a:t>Формализация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828800"/>
            <a:ext cx="457200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8FAFC"/>
                </a:solidFill>
                <a:latin typeface="Arial"/>
              </a:defRPr>
            </a:pPr>
            <a:r>
              <a:t>1 изображение:  xᵢ ∈ ℝ⁷⁸⁴</a:t>
            </a:r>
          </a:p>
          <a:p>
            <a:pPr>
              <a:spcAft>
                <a:spcPts val="800"/>
              </a:spcAft>
              <a:defRPr sz="1800" b="0">
                <a:solidFill>
                  <a:srgbClr val="F8FAFC"/>
                </a:solidFill>
                <a:latin typeface="Arial"/>
              </a:defRPr>
            </a:pPr>
            <a:r>
              <a:t>n изображений:  X ∈ ℝⁿˣ⁷⁸⁴</a:t>
            </a:r>
          </a:p>
          <a:p>
            <a:pPr>
              <a:spcAft>
                <a:spcPts val="800"/>
              </a:spcAft>
              <a:defRPr sz="1800" b="0">
                <a:solidFill>
                  <a:srgbClr val="F8FAFC"/>
                </a:solidFill>
                <a:latin typeface="Arial"/>
              </a:defRPr>
            </a:pPr>
            <a:r>
              <a:t>центрирование:  Xc = X − 1μᵀ</a:t>
            </a:r>
          </a:p>
          <a:p>
            <a:pPr>
              <a:spcAft>
                <a:spcPts val="800"/>
              </a:spcAft>
              <a:defRPr sz="1800" b="0">
                <a:solidFill>
                  <a:srgbClr val="F8FAFC"/>
                </a:solidFill>
                <a:latin typeface="Arial"/>
              </a:defRPr>
            </a:pPr>
            <a:r>
              <a:t>ищем W ∈ ℝ⁷⁸⁴ˣᵏ,  WᵀW = I</a:t>
            </a:r>
          </a:p>
          <a:p>
            <a:pPr>
              <a:spcAft>
                <a:spcPts val="800"/>
              </a:spcAft>
              <a:defRPr sz="1800" b="0">
                <a:solidFill>
                  <a:srgbClr val="F8FAFC"/>
                </a:solidFill>
                <a:latin typeface="Arial"/>
              </a:defRPr>
            </a:pPr>
            <a:r>
              <a:t>проекция:  Z = Xc W</a:t>
            </a:r>
          </a:p>
          <a:p>
            <a:pPr>
              <a:spcAft>
                <a:spcPts val="800"/>
              </a:spcAft>
              <a:defRPr sz="1800" b="0">
                <a:solidFill>
                  <a:srgbClr val="F8FAFC"/>
                </a:solidFill>
                <a:latin typeface="Arial"/>
              </a:defRPr>
            </a:pPr>
            <a:r>
              <a:t>восстановление:  X̂ = Z Wᵀ + 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5532120"/>
            <a:ext cx="49377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59E0B"/>
                </a:solidFill>
                <a:latin typeface="Arial"/>
              </a:rPr>
              <a:t>Задача PCA: выбрать k-мерное подпространство, где потеря информации минимальна.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Линейная алгебра · PCA · MNIST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8FAFC"/>
                </a:solidFill>
                <a:latin typeface="Arial"/>
              </a:rPr>
              <a:t>Теория: собственные векторы и SVD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9875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Главные компоненты — это ортогональные направления максимальной дисперсии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166360" cy="43434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091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8BDF8"/>
                </a:solidFill>
                <a:latin typeface="Arial"/>
              </a:rPr>
              <a:t>Через ковариационную матрицу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17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0">
                <a:solidFill>
                  <a:srgbClr val="38BDF8"/>
                </a:solidFill>
                <a:latin typeface="Cambria Math"/>
              </a:rPr>
              <a:t>C = 1/(n−1) · XcᵀXc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4617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800" b="0">
                <a:solidFill>
                  <a:srgbClr val="F8FAFC"/>
                </a:solidFill>
                <a:latin typeface="Cambria Math"/>
              </a:rPr>
              <a:t>C vⱼ = λⱼ vⱼ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66160"/>
            <a:ext cx="452628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vⱼ — направление компоненты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λⱼ — дисперсия вдоль этого направления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λ₁ ≥ λ₂ ≥ …; компоненты ортогональны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57800" cy="434340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54480"/>
            <a:ext cx="48006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8BDF8"/>
                </a:solidFill>
                <a:latin typeface="Arial"/>
              </a:rPr>
              <a:t>Через SVD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466344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0">
                <a:solidFill>
                  <a:srgbClr val="38BDF8"/>
                </a:solidFill>
                <a:latin typeface="Cambria Math"/>
              </a:rPr>
              <a:t>Xc = UΣVᵀ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834640"/>
            <a:ext cx="45720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F8FAFC"/>
                </a:solidFill>
                <a:latin typeface="Arial"/>
              </a:rPr>
              <a:t>Столбцы/строки V задают главные оси. SVD обычно устойчивее и удобнее в вычислениях, поэтому sklearn PCA фактически использует SVD.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800600"/>
            <a:ext cx="4572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59E0B"/>
                </a:solidFill>
                <a:latin typeface="Arial"/>
              </a:rPr>
              <a:t>Это чистая линейная алгебра: матрицы, ортогональность, собственные значения.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Линейная алгебра · PCA · MNIST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8FAFC"/>
                </a:solidFill>
                <a:latin typeface="Arial"/>
              </a:rPr>
              <a:t>Алгоритм PCA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9875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От исходных пикселей к компактному набору признаков</a:t>
            </a:r>
          </a:p>
        </p:txBody>
      </p:sp>
      <p:pic>
        <p:nvPicPr>
          <p:cNvPr id="5" name="Picture 4" descr="pca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4800600" cy="44147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417320"/>
            <a:ext cx="534924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1. Загрузить данные и привести пиксели к диапазону [0, 1].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2. Вычесть среднее изображение μ: данные должны быть центрированы.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3. Найти SVD или собственные векторы ковариационной матрицы.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4. Отсортировать компоненты по убыванию λ.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5. Выбрать k по накопленной дисперсии R(k).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6. Спроецировать X на первые k компонент: Z = XcW.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532120"/>
            <a:ext cx="534924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50992"/>
            <a:ext cx="5074920" cy="34747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>
                <a:solidFill>
                  <a:srgbClr val="38BDF8"/>
                </a:solidFill>
                <a:latin typeface="Cambria Math"/>
              </a:rPr>
              <a:t>R(k)= (λ₁+...+λₖ)/(λ₁+...+λ₇₈₄)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Линейная алгебра · PCA · MNIST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8FAFC"/>
                </a:solidFill>
                <a:latin typeface="Arial"/>
              </a:rPr>
              <a:t>Практическая часть: данные MNIST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9875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Постановка задачи на реальных изображениях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657600" cy="45262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200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8BDF8"/>
                </a:solidFill>
                <a:latin typeface="Arial"/>
              </a:rPr>
              <a:t>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315468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CBD5E1"/>
                </a:solidFill>
                <a:latin typeface="Arial"/>
              </a:defRPr>
            </a:pPr>
            <a:r>
              <a:t>• MNIST: 70 000 изображений</a:t>
            </a:r>
          </a:p>
          <a:p>
            <a:pPr>
              <a:spcAft>
                <a:spcPts val="800"/>
              </a:spcAft>
              <a:defRPr sz="1700" b="0">
                <a:solidFill>
                  <a:srgbClr val="CBD5E1"/>
                </a:solidFill>
                <a:latin typeface="Arial"/>
              </a:defRPr>
            </a:pPr>
            <a:r>
              <a:t>• размер каждого: 28×28 = 784 признака</a:t>
            </a:r>
          </a:p>
          <a:p>
            <a:pPr>
              <a:spcAft>
                <a:spcPts val="800"/>
              </a:spcAft>
              <a:defRPr sz="1700" b="0">
                <a:solidFill>
                  <a:srgbClr val="CBD5E1"/>
                </a:solidFill>
                <a:latin typeface="Arial"/>
              </a:defRPr>
            </a:pPr>
            <a:r>
              <a:t>• классы: цифры от 0 до 9</a:t>
            </a:r>
          </a:p>
          <a:p>
            <a:pPr>
              <a:spcAft>
                <a:spcPts val="800"/>
              </a:spcAft>
              <a:defRPr sz="1700" b="0">
                <a:solidFill>
                  <a:srgbClr val="CBD5E1"/>
                </a:solidFill>
                <a:latin typeface="Arial"/>
              </a:defRPr>
            </a:pPr>
            <a:r>
              <a:t>• значения пикселей: 0…255 → делим на 255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417320"/>
            <a:ext cx="3383280" cy="45262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554480"/>
            <a:ext cx="29260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8BDF8"/>
                </a:solidFill>
                <a:latin typeface="Arial"/>
              </a:rPr>
              <a:t>Источник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874519"/>
            <a:ext cx="283464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8BDF8"/>
                </a:solidFill>
                <a:latin typeface="Arial"/>
              </a:rPr>
              <a:t>sklearn.datasets.fetch_openml("mnist_784")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971800"/>
            <a:ext cx="27889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CBD5E1"/>
                </a:solidFill>
                <a:latin typeface="Arial"/>
              </a:rPr>
              <a:t>Для ускорения доклада можно брать подвыборку, например 12 000 изображений. Полный датасет запускается дольше, но код тот же.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017520" cy="452628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554480"/>
            <a:ext cx="256032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8BDF8"/>
                </a:solidFill>
                <a:latin typeface="Arial"/>
              </a:rPr>
              <a:t>Что анализируем?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874519"/>
            <a:ext cx="2514600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2D-проекцию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накопленную дисперсию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число компонент для 90/95/99%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качество восстановления картинки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Линейная алгебра · PCA · MNIST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8FAFC"/>
                </a:solidFill>
                <a:latin typeface="Arial"/>
              </a:rPr>
              <a:t>Результат 1: 2D-карта цифр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9875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Проекция из ℝ⁷⁸⁴ в ℝ²</a:t>
            </a:r>
          </a:p>
        </p:txBody>
      </p:sp>
      <p:pic>
        <p:nvPicPr>
          <p:cNvPr id="5" name="Picture 4" descr="scatter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217920" cy="45059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417320"/>
            <a:ext cx="3977639" cy="44348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1554480"/>
            <a:ext cx="3520439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8BDF8"/>
                </a:solidFill>
                <a:latin typeface="Arial"/>
              </a:rPr>
              <a:t>Интерпретация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874519"/>
            <a:ext cx="3337560" cy="11430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F8FAFC"/>
                </a:solidFill>
                <a:latin typeface="Arial"/>
              </a:rPr>
              <a:t>Первые две компоненты дают “карту” данных: похожие изображения оказываются ближе друг к другу.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246120"/>
            <a:ext cx="329184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CBD5E1"/>
                </a:solidFill>
                <a:latin typeface="Arial"/>
              </a:defRPr>
            </a:pPr>
            <a:r>
              <a:t>• хорошо видны грубые группы;</a:t>
            </a:r>
          </a:p>
          <a:p>
            <a:pPr>
              <a:spcAft>
                <a:spcPts val="800"/>
              </a:spcAft>
              <a:defRPr sz="1500" b="0">
                <a:solidFill>
                  <a:srgbClr val="CBD5E1"/>
                </a:solidFill>
                <a:latin typeface="Arial"/>
              </a:defRPr>
            </a:pPr>
            <a:r>
              <a:t>• часть цифр пересекается: 3/5, 4/9;</a:t>
            </a:r>
          </a:p>
          <a:p>
            <a:pPr>
              <a:spcAft>
                <a:spcPts val="800"/>
              </a:spcAft>
              <a:defRPr sz="1500" b="0">
                <a:solidFill>
                  <a:srgbClr val="CBD5E1"/>
                </a:solidFill>
                <a:latin typeface="Arial"/>
              </a:defRPr>
            </a:pPr>
            <a:r>
              <a:t>• 2 компоненты удобны для визуализации, но не для точной классификации.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5440680"/>
            <a:ext cx="3383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59E0B"/>
                </a:solidFill>
                <a:latin typeface="Arial"/>
              </a:rPr>
              <a:t>Главная идея: PCA показывает структуру без знания меток.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Линейная алгебра · PCA · MNIST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8FAFC"/>
                </a:solidFill>
                <a:latin typeface="Arial"/>
              </a:rPr>
              <a:t>Результат 2: сколько компонент оставить?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9875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Накопленная объяснённая дисперсия</a:t>
            </a:r>
          </a:p>
        </p:txBody>
      </p:sp>
      <p:pic>
        <p:nvPicPr>
          <p:cNvPr id="5" name="Picture 4" descr="varianc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25880"/>
            <a:ext cx="5806440" cy="40030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12280" y="1417320"/>
            <a:ext cx="4480560" cy="44348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554480"/>
            <a:ext cx="40233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8BDF8"/>
                </a:solidFill>
                <a:latin typeface="Arial"/>
              </a:rPr>
              <a:t>Основной результат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874519"/>
            <a:ext cx="3931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0">
                <a:solidFill>
                  <a:srgbClr val="38BDF8"/>
                </a:solidFill>
                <a:latin typeface="Cambria Math"/>
              </a:rPr>
              <a:t>784  →  ≈150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606040"/>
            <a:ext cx="37947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8FAFC"/>
                </a:solidFill>
                <a:latin typeface="Arial"/>
              </a:rPr>
              <a:t>Примерно 150 главных компонент обычно сохраняют около 95% дисперсии MNIST.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3657600"/>
            <a:ext cx="3703320" cy="1051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CBD5E1"/>
                </a:solidFill>
                <a:latin typeface="Arial"/>
              </a:rPr>
              <a:t>Это означает почти пятикратное уменьшение числа признаков: модель работает с меньшей матрицей, а основная форма цифр остаётся.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5166360"/>
            <a:ext cx="37033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59E0B"/>
                </a:solidFill>
                <a:latin typeface="Arial"/>
              </a:rPr>
              <a:t>Точное k печатает приложенный код: pca95.n_components_.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Линейная алгебра · PCA · MNIST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8FAFC"/>
                </a:solidFill>
                <a:latin typeface="Arial"/>
              </a:rPr>
              <a:t>Результат 3: восстановление изображения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9875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PCA как сжатие с потерями</a:t>
            </a:r>
          </a:p>
        </p:txBody>
      </p:sp>
      <p:pic>
        <p:nvPicPr>
          <p:cNvPr id="5" name="Picture 4" descr="re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10241280" cy="291210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60120" y="5074920"/>
            <a:ext cx="10058400" cy="777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230368"/>
            <a:ext cx="9784080" cy="31089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>
                <a:solidFill>
                  <a:srgbClr val="38BDF8"/>
                </a:solidFill>
                <a:latin typeface="Cambria Math"/>
              </a:rPr>
              <a:t>x̂ = Wz + μ     где z = Wᵀ(x − 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806440"/>
            <a:ext cx="9601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>
                <a:solidFill>
                  <a:srgbClr val="CBD5E1"/>
                </a:solidFill>
                <a:latin typeface="Arial"/>
              </a:rPr>
              <a:t>Малое k оставляет только грубый “скелет”, большое k возвращает детали. PCA может использоваться для сжатия и шумоподавления.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Линейная алгебра · PCA · MNIST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8FAFC"/>
                </a:solidFill>
                <a:latin typeface="Arial"/>
              </a:rPr>
              <a:t>Фрагмент реализации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9875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Полный код приложен отдельным файлом: mnist_pca_project.py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6492240" cy="4892040"/>
          </a:xfrm>
          <a:prstGeom prst="round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5943600" cy="4206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F8FAFC"/>
                </a:solidFill>
                <a:latin typeface="Courier New"/>
              </a:rPr>
              <a:t>from sklearn.datasets import fetch_openml</a:t>
            </a:r>
            <a:br/>
            <a:r>
              <a:rPr sz="1500" b="0">
                <a:solidFill>
                  <a:srgbClr val="F8FAFC"/>
                </a:solidFill>
                <a:latin typeface="Courier New"/>
              </a:rPr>
              <a:t>from sklearn.decomposition import PCA</a:t>
            </a:r>
            <a:br/>
            <a:br/>
            <a:r>
              <a:rPr sz="1500" b="0">
                <a:solidFill>
                  <a:srgbClr val="F8FAFC"/>
                </a:solidFill>
                <a:latin typeface="Courier New"/>
              </a:rPr>
              <a:t>X, y = fetch_openml("mnist_784", version=1,</a:t>
            </a:r>
            <a:br/>
            <a:r>
              <a:rPr sz="1500" b="0">
                <a:solidFill>
                  <a:srgbClr val="F8FAFC"/>
                </a:solidFill>
                <a:latin typeface="Courier New"/>
              </a:rPr>
              <a:t>                    return_X_y=True, as_frame=False)</a:t>
            </a:r>
            <a:br/>
            <a:r>
              <a:rPr sz="1500" b="0">
                <a:solidFill>
                  <a:srgbClr val="F8FAFC"/>
                </a:solidFill>
                <a:latin typeface="Courier New"/>
              </a:rPr>
              <a:t>X = X.astype("float32") / 255.0</a:t>
            </a:r>
            <a:br/>
            <a:br/>
            <a:r>
              <a:rPr sz="1500" b="0">
                <a:solidFill>
                  <a:srgbClr val="F8FAFC"/>
                </a:solidFill>
                <a:latin typeface="Courier New"/>
              </a:rPr>
              <a:t>pca95 = PCA(n_components=0.95, svd_solver="full")</a:t>
            </a:r>
            <a:br/>
            <a:r>
              <a:rPr sz="1500" b="0">
                <a:solidFill>
                  <a:srgbClr val="F8FAFC"/>
                </a:solidFill>
                <a:latin typeface="Courier New"/>
              </a:rPr>
              <a:t>X_95 = pca95.fit_transform(X_train)</a:t>
            </a:r>
            <a:br/>
            <a:br/>
            <a:r>
              <a:rPr sz="1500" b="0">
                <a:solidFill>
                  <a:srgbClr val="F8FAFC"/>
                </a:solidFill>
                <a:latin typeface="Courier New"/>
              </a:rPr>
              <a:t>print(pca95.n_components_)</a:t>
            </a:r>
            <a:br/>
            <a:r>
              <a:rPr sz="1500" b="0">
                <a:solidFill>
                  <a:srgbClr val="F8FAFC"/>
                </a:solidFill>
                <a:latin typeface="Courier New"/>
              </a:rPr>
              <a:t>print(pca95.explained_variance_ratio_.sum())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234440"/>
            <a:ext cx="3886200" cy="48920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371600"/>
            <a:ext cx="34290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8BDF8"/>
                </a:solidFill>
                <a:latin typeface="Arial"/>
              </a:rPr>
              <a:t>Что делает полный скрипт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737360"/>
            <a:ext cx="338328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CBD5E1"/>
                </a:solidFill>
                <a:latin typeface="Arial"/>
              </a:defRPr>
            </a:pPr>
            <a:r>
              <a:t>• загружает MNIST через sklearn;</a:t>
            </a:r>
          </a:p>
          <a:p>
            <a:pPr>
              <a:spcAft>
                <a:spcPts val="800"/>
              </a:spcAft>
              <a:defRPr sz="1500" b="0">
                <a:solidFill>
                  <a:srgbClr val="CBD5E1"/>
                </a:solidFill>
                <a:latin typeface="Arial"/>
              </a:defRPr>
            </a:pPr>
            <a:r>
              <a:t>• строит примеры цифр;</a:t>
            </a:r>
          </a:p>
          <a:p>
            <a:pPr>
              <a:spcAft>
                <a:spcPts val="800"/>
              </a:spcAft>
              <a:defRPr sz="1500" b="0">
                <a:solidFill>
                  <a:srgbClr val="CBD5E1"/>
                </a:solidFill>
                <a:latin typeface="Arial"/>
              </a:defRPr>
            </a:pPr>
            <a:r>
              <a:t>• рисует 2D PCA scatter;</a:t>
            </a:r>
          </a:p>
          <a:p>
            <a:pPr>
              <a:spcAft>
                <a:spcPts val="800"/>
              </a:spcAft>
              <a:defRPr sz="1500" b="0">
                <a:solidFill>
                  <a:srgbClr val="CBD5E1"/>
                </a:solidFill>
                <a:latin typeface="Arial"/>
              </a:defRPr>
            </a:pPr>
            <a:r>
              <a:t>• строит график explained variance;</a:t>
            </a:r>
          </a:p>
          <a:p>
            <a:pPr>
              <a:spcAft>
                <a:spcPts val="800"/>
              </a:spcAft>
              <a:defRPr sz="1500" b="0">
                <a:solidFill>
                  <a:srgbClr val="CBD5E1"/>
                </a:solidFill>
                <a:latin typeface="Arial"/>
              </a:defRPr>
            </a:pPr>
            <a:r>
              <a:t>• выводит k для 90/95/99%;</a:t>
            </a:r>
          </a:p>
          <a:p>
            <a:pPr>
              <a:spcAft>
                <a:spcPts val="800"/>
              </a:spcAft>
              <a:defRPr sz="1500" b="0">
                <a:solidFill>
                  <a:srgbClr val="CBD5E1"/>
                </a:solidFill>
                <a:latin typeface="Arial"/>
              </a:defRPr>
            </a:pPr>
            <a:r>
              <a:t>• показывает восстановление для разных 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5532120"/>
            <a:ext cx="3383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59E0B"/>
                </a:solidFill>
                <a:latin typeface="Arial"/>
              </a:rPr>
              <a:t>При первом запуске нужен интернет для скачивания OpenML.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Линейная алгебра · PCA · MNIST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8FAFC"/>
                </a:solidFill>
                <a:latin typeface="Arial"/>
              </a:rPr>
              <a:t>Заключение и перспективы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9875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Что показал проект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44348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8BDF8"/>
                </a:solidFill>
                <a:latin typeface="Arial"/>
              </a:rPr>
              <a:t>Выводы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466344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PCA переводит изображение из 784 исходных пикселей в новые координаты.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Компоненты — это собственные направления максимальной дисперсии.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Небольшое число компонент уже передаёт основную форму цифры.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Метод не использует метки, поэтому относится к анализу структуры данных.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120640" cy="4434840"/>
          </a:xfrm>
          <a:prstGeom prst="roundRect">
            <a:avLst/>
          </a:prstGeom>
          <a:solidFill>
            <a:srgbClr val="111A2E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66344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8BDF8"/>
                </a:solidFill>
                <a:latin typeface="Arial"/>
              </a:rPr>
              <a:t>Где применять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74519"/>
            <a:ext cx="461772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сжатие изображений и признаков;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шумоподавление;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визуализация многомерных данных;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ускорение классификаторов;</a:t>
            </a:r>
          </a:p>
          <a:p>
            <a:pPr>
              <a:spcAft>
                <a:spcPts val="800"/>
              </a:spcAft>
              <a:defRPr sz="1600" b="0">
                <a:solidFill>
                  <a:srgbClr val="CBD5E1"/>
                </a:solidFill>
                <a:latin typeface="Arial"/>
              </a:defRPr>
            </a:pPr>
            <a:r>
              <a:t>• сравнение с t-SNE/UMAP и нейросетевыми автоэнкодерами.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989320"/>
            <a:ext cx="8046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F59E0B"/>
                </a:solidFill>
                <a:latin typeface="Arial"/>
              </a:rPr>
              <a:t>PCA — это пример того, как линейная алгебра превращается в работающий инструмент анализа данных.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Линейная алгебра · PCA · MNIST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8FAFC"/>
                </a:solidFill>
                <a:latin typeface="Arial"/>
              </a:rPr>
              <a:t>Список литературы и источники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98755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CBD5E1"/>
                </a:solidFill>
                <a:latin typeface="Arial"/>
              </a:rPr>
              <a:t>Основные источники для теории, данных и реализации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42416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83080"/>
            <a:ext cx="978408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CBD5E1"/>
                </a:solidFill>
                <a:latin typeface="Arial"/>
              </a:defRPr>
            </a:pPr>
            <a:r>
              <a:t>1. LeCun Y., Cortes C., Burges C. The MNIST Database of Handwritten Digits.</a:t>
            </a:r>
          </a:p>
          <a:p>
            <a:pPr>
              <a:spcAft>
                <a:spcPts val="800"/>
              </a:spcAft>
              <a:defRPr sz="1800" b="0">
                <a:solidFill>
                  <a:srgbClr val="CBD5E1"/>
                </a:solidFill>
                <a:latin typeface="Arial"/>
              </a:defRPr>
            </a:pPr>
            <a:r>
              <a:t>2. scikit-learn documentation: sklearn.datasets.fetch_openml.</a:t>
            </a:r>
          </a:p>
          <a:p>
            <a:pPr>
              <a:spcAft>
                <a:spcPts val="800"/>
              </a:spcAft>
              <a:defRPr sz="1800" b="0">
                <a:solidFill>
                  <a:srgbClr val="CBD5E1"/>
                </a:solidFill>
                <a:latin typeface="Arial"/>
              </a:defRPr>
            </a:pPr>
            <a:r>
              <a:t>3. scikit-learn documentation: sklearn.decomposition.PCA.</a:t>
            </a:r>
          </a:p>
          <a:p>
            <a:pPr>
              <a:spcAft>
                <a:spcPts val="800"/>
              </a:spcAft>
              <a:defRPr sz="1800" b="0">
                <a:solidFill>
                  <a:srgbClr val="CBD5E1"/>
                </a:solidFill>
                <a:latin typeface="Arial"/>
              </a:defRPr>
            </a:pPr>
            <a:r>
              <a:t>4. Jolliffe I. T. Principal Component Analysis. Springer, 2002.</a:t>
            </a:r>
          </a:p>
          <a:p>
            <a:pPr>
              <a:spcAft>
                <a:spcPts val="800"/>
              </a:spcAft>
              <a:defRPr sz="1800" b="0">
                <a:solidFill>
                  <a:srgbClr val="CBD5E1"/>
                </a:solidFill>
                <a:latin typeface="Arial"/>
              </a:defRPr>
            </a:pPr>
            <a:r>
              <a:t>5. Halko N., Martinsson P. G., Tropp J. A. Finding Structure with Randomness. SIAM Review, 2011.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897880"/>
            <a:ext cx="9692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38BDF8"/>
                </a:solidFill>
                <a:latin typeface="Arial"/>
              </a:rPr>
              <a:t>Для демонстрации: Python, NumPy, Matplotlib, scikit-learn.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54864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Линейная алгебра · PCA · MNIST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64748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